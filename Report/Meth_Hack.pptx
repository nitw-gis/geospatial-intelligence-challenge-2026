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26C909-A2D6-4B18-9D3C-CC65D7DFE2EE}">
  <a:tblStyle styleId="{3026C909-A2D6-4B18-9D3C-CC65D7DFE2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35e91313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35e91313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361ee9a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361ee9a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361ee9a4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361ee9a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232550" y="1359675"/>
            <a:ext cx="1978200" cy="2582575"/>
            <a:chOff x="232550" y="1359675"/>
            <a:chExt cx="1978200" cy="2582575"/>
          </a:xfrm>
        </p:grpSpPr>
        <p:sp>
          <p:nvSpPr>
            <p:cNvPr id="55" name="Google Shape;55;p13"/>
            <p:cNvSpPr/>
            <p:nvPr/>
          </p:nvSpPr>
          <p:spPr>
            <a:xfrm>
              <a:off x="232550" y="1359675"/>
              <a:ext cx="1978200" cy="1214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Data Acquisition</a:t>
              </a:r>
              <a:endParaRPr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Orthophotos &amp; Footprints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232550" y="2727850"/>
              <a:ext cx="1978200" cy="1214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Data Processing</a:t>
              </a:r>
              <a:endParaRPr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512 x 512 Tiling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Rasterization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Mask Filtering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Class Weighting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57" name="Google Shape;57;p13"/>
          <p:cNvGrpSpPr/>
          <p:nvPr/>
        </p:nvGrpSpPr>
        <p:grpSpPr>
          <a:xfrm>
            <a:off x="2356625" y="1382788"/>
            <a:ext cx="4029075" cy="2559463"/>
            <a:chOff x="2356625" y="1382788"/>
            <a:chExt cx="4029075" cy="2559463"/>
          </a:xfrm>
        </p:grpSpPr>
        <p:sp>
          <p:nvSpPr>
            <p:cNvPr id="58" name="Google Shape;58;p13"/>
            <p:cNvSpPr/>
            <p:nvPr/>
          </p:nvSpPr>
          <p:spPr>
            <a:xfrm>
              <a:off x="2356625" y="1382788"/>
              <a:ext cx="1978200" cy="1214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Model Development</a:t>
              </a:r>
              <a:endParaRPr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Multi-Class U-Net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Weighted SCCE + Dice Loss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444950" y="2727850"/>
              <a:ext cx="1978200" cy="1214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Model Training</a:t>
              </a:r>
              <a:endParaRPr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70% Training &amp; 30% Validation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Callback &amp; Optimization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4407500" y="1382788"/>
              <a:ext cx="1978200" cy="1214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Model Evaluation</a:t>
              </a:r>
              <a:endParaRPr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Accuracy &amp; </a:t>
              </a: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Spatial</a:t>
              </a: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 Metrics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Error Map Analysis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6458375" y="1382788"/>
            <a:ext cx="2597400" cy="2559463"/>
            <a:chOff x="6458375" y="1382788"/>
            <a:chExt cx="2597400" cy="2559463"/>
          </a:xfrm>
        </p:grpSpPr>
        <p:sp>
          <p:nvSpPr>
            <p:cNvPr id="62" name="Google Shape;62;p13"/>
            <p:cNvSpPr/>
            <p:nvPr/>
          </p:nvSpPr>
          <p:spPr>
            <a:xfrm>
              <a:off x="6458375" y="2727850"/>
              <a:ext cx="2597400" cy="1214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Development</a:t>
              </a:r>
              <a:endParaRPr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Batch Inference Pipeline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GIS Integration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6458375" y="1382788"/>
              <a:ext cx="2597400" cy="1214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Scaling &amp; monitoring</a:t>
              </a:r>
              <a:endParaRPr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Regional Expansion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Cambria"/>
                <a:buChar char="●"/>
              </a:pPr>
              <a:r>
                <a:rPr lang="en" sz="1200">
                  <a:latin typeface="Cambria"/>
                  <a:ea typeface="Cambria"/>
                  <a:cs typeface="Cambria"/>
                  <a:sym typeface="Cambria"/>
                </a:rPr>
                <a:t>Periodic Model Retraining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413900" y="1112925"/>
            <a:ext cx="2547600" cy="3787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Road</a:t>
            </a:r>
            <a:endParaRPr b="1" sz="44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map</a:t>
            </a:r>
            <a:endParaRPr b="1" sz="44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Of the Project</a:t>
            </a:r>
            <a:r>
              <a:rPr b="1" lang="en" sz="4400">
                <a:solidFill>
                  <a:schemeClr val="dk2"/>
                </a:solidFill>
              </a:rPr>
              <a:t> </a:t>
            </a:r>
            <a:endParaRPr b="1" sz="4400"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243675" y="1112925"/>
            <a:ext cx="5142300" cy="422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</a:t>
            </a: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 Acquisition &amp; Preparation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243670" y="1809800"/>
            <a:ext cx="5142300" cy="422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Model Development &amp; Optimization</a:t>
            </a:r>
            <a:endParaRPr b="1"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243672" y="2506674"/>
            <a:ext cx="5142300" cy="422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      Model </a:t>
            </a: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Validation</a:t>
            </a: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&amp; </a:t>
            </a: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Evaluation</a:t>
            </a:r>
            <a:endParaRPr b="1" sz="1600"/>
          </a:p>
        </p:txBody>
      </p:sp>
      <p:sp>
        <p:nvSpPr>
          <p:cNvPr id="72" name="Google Shape;72;p14"/>
          <p:cNvSpPr/>
          <p:nvPr/>
        </p:nvSpPr>
        <p:spPr>
          <a:xfrm>
            <a:off x="3243675" y="3150775"/>
            <a:ext cx="5100000" cy="4224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Model Testing &amp; Retraining </a:t>
            </a:r>
            <a:endParaRPr b="1" sz="1600"/>
          </a:p>
        </p:txBody>
      </p:sp>
      <p:sp>
        <p:nvSpPr>
          <p:cNvPr id="73" name="Google Shape;73;p14"/>
          <p:cNvSpPr/>
          <p:nvPr/>
        </p:nvSpPr>
        <p:spPr>
          <a:xfrm>
            <a:off x="3243700" y="3847650"/>
            <a:ext cx="5142300" cy="4224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Deployment &amp; Integration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74" name="Google Shape;74;p14"/>
          <p:cNvCxnSpPr>
            <a:endCxn id="70" idx="0"/>
          </p:cNvCxnSpPr>
          <p:nvPr/>
        </p:nvCxnSpPr>
        <p:spPr>
          <a:xfrm>
            <a:off x="5809420" y="1545800"/>
            <a:ext cx="5400" cy="26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4"/>
          <p:cNvCxnSpPr>
            <a:stCxn id="70" idx="2"/>
            <a:endCxn id="71" idx="0"/>
          </p:cNvCxnSpPr>
          <p:nvPr/>
        </p:nvCxnSpPr>
        <p:spPr>
          <a:xfrm>
            <a:off x="5814820" y="2232200"/>
            <a:ext cx="0" cy="27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4"/>
          <p:cNvCxnSpPr>
            <a:endCxn id="72" idx="0"/>
          </p:cNvCxnSpPr>
          <p:nvPr/>
        </p:nvCxnSpPr>
        <p:spPr>
          <a:xfrm>
            <a:off x="5793675" y="2929075"/>
            <a:ext cx="0" cy="2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4"/>
          <p:cNvCxnSpPr>
            <a:endCxn id="73" idx="0"/>
          </p:cNvCxnSpPr>
          <p:nvPr/>
        </p:nvCxnSpPr>
        <p:spPr>
          <a:xfrm flipH="1">
            <a:off x="5814850" y="3594150"/>
            <a:ext cx="10500" cy="2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4"/>
          <p:cNvSpPr/>
          <p:nvPr/>
        </p:nvSpPr>
        <p:spPr>
          <a:xfrm>
            <a:off x="3222525" y="4477850"/>
            <a:ext cx="5142300" cy="422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Scaling &amp; Maintenance</a:t>
            </a:r>
            <a:endParaRPr b="1"/>
          </a:p>
        </p:txBody>
      </p:sp>
      <p:cxnSp>
        <p:nvCxnSpPr>
          <p:cNvPr id="79" name="Google Shape;79;p14"/>
          <p:cNvCxnSpPr>
            <a:stCxn id="73" idx="2"/>
          </p:cNvCxnSpPr>
          <p:nvPr/>
        </p:nvCxnSpPr>
        <p:spPr>
          <a:xfrm flipH="1">
            <a:off x="5806750" y="4270050"/>
            <a:ext cx="8100" cy="2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5"/>
          <p:cNvGraphicFramePr/>
          <p:nvPr/>
        </p:nvGraphicFramePr>
        <p:xfrm>
          <a:off x="560800" y="108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{3026C909-A2D6-4B18-9D3C-CC65D7DFE2EE}</a:tableStyleId>
              </a:tblPr>
              <a:tblGrid>
                <a:gridCol w="711950"/>
                <a:gridCol w="1559250"/>
                <a:gridCol w="1135600"/>
              </a:tblGrid>
              <a:tr h="76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Values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Class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No. of Pixels per class</a:t>
                      </a:r>
                      <a:endParaRPr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38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Background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216012504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RCC Roof 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93348733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</a:tr>
              <a:tr h="38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Tiled Roof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323656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8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Tin Roof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16563012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Other Roofs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3791391</a:t>
                      </a:r>
                      <a:endParaRPr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5"/>
          <p:cNvSpPr/>
          <p:nvPr/>
        </p:nvSpPr>
        <p:spPr>
          <a:xfrm>
            <a:off x="560800" y="450825"/>
            <a:ext cx="8003100" cy="4770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ambria"/>
                <a:ea typeface="Cambria"/>
                <a:cs typeface="Cambria"/>
                <a:sym typeface="Cambria"/>
              </a:rPr>
              <a:t>Features Class Distribution in Training Dataset</a:t>
            </a:r>
            <a:endParaRPr b="1" sz="2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60800" y="3951075"/>
            <a:ext cx="3406800" cy="822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 per features class distribution, Background noise is very higher </a:t>
            </a:r>
            <a:r>
              <a:rPr b="1" lang="en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throughout</a:t>
            </a:r>
            <a:r>
              <a:rPr b="1" lang="en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the dataset. To overcome this class imbalance, inverse frequency class weights are defined</a:t>
            </a:r>
            <a:endParaRPr b="1" sz="1700">
              <a:solidFill>
                <a:schemeClr val="dk2"/>
              </a:solidFill>
            </a:endParaRPr>
          </a:p>
        </p:txBody>
      </p:sp>
      <p:graphicFrame>
        <p:nvGraphicFramePr>
          <p:cNvPr id="87" name="Google Shape;87;p15"/>
          <p:cNvGraphicFramePr/>
          <p:nvPr/>
        </p:nvGraphicFramePr>
        <p:xfrm>
          <a:off x="4067650" y="397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{3026C909-A2D6-4B18-9D3C-CC65D7DFE2EE}</a:tableStyleId>
              </a:tblPr>
              <a:tblGrid>
                <a:gridCol w="626300"/>
                <a:gridCol w="716800"/>
                <a:gridCol w="774500"/>
                <a:gridCol w="853750"/>
                <a:gridCol w="777800"/>
                <a:gridCol w="747125"/>
              </a:tblGrid>
              <a:tr h="38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Class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Weights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0.006749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0.0156196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4.50502233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0.0880321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0.3845758</a:t>
                      </a:r>
                      <a:endParaRPr sz="10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650" y="1109063"/>
            <a:ext cx="4496276" cy="270254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